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468" r:id="rId3"/>
    <p:sldId id="469" r:id="rId5"/>
    <p:sldId id="474" r:id="rId6"/>
    <p:sldId id="470" r:id="rId7"/>
    <p:sldId id="475" r:id="rId8"/>
    <p:sldId id="471" r:id="rId9"/>
    <p:sldId id="476" r:id="rId10"/>
    <p:sldId id="477" r:id="rId11"/>
    <p:sldId id="480" r:id="rId12"/>
    <p:sldId id="481" r:id="rId13"/>
    <p:sldId id="482" r:id="rId14"/>
    <p:sldId id="484" r:id="rId15"/>
    <p:sldId id="485" r:id="rId16"/>
    <p:sldId id="486" r:id="rId17"/>
    <p:sldId id="487" r:id="rId18"/>
    <p:sldId id="483" r:id="rId19"/>
    <p:sldId id="478" r:id="rId20"/>
    <p:sldId id="479" r:id="rId21"/>
    <p:sldId id="472" r:id="rId22"/>
    <p:sldId id="488" r:id="rId23"/>
    <p:sldId id="492" r:id="rId24"/>
    <p:sldId id="489" r:id="rId25"/>
    <p:sldId id="490" r:id="rId26"/>
    <p:sldId id="493" r:id="rId27"/>
    <p:sldId id="491" r:id="rId28"/>
    <p:sldId id="473" r:id="rId29"/>
    <p:sldId id="327" r:id="rId30"/>
  </p:sldIdLst>
  <p:sldSz cx="9144000" cy="5143500" type="screen16x9"/>
  <p:notesSz cx="6858000" cy="9144000"/>
  <p:embeddedFontLst>
    <p:embeddedFont>
      <p:font typeface="Microsoft YaHei" panose="020B0503020204020204" pitchFamily="34" charset="-122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33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兵兵 袁" initials="兵兵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25F"/>
    <a:srgbClr val="FE5C4F"/>
    <a:srgbClr val="92D050"/>
    <a:srgbClr val="BEE395"/>
    <a:srgbClr val="00B451"/>
    <a:srgbClr val="007033"/>
    <a:srgbClr val="009A46"/>
    <a:srgbClr val="004620"/>
    <a:srgbClr val="74F67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6" autoAdjust="0"/>
    <p:restoredTop sz="92650" autoAdjust="0"/>
  </p:normalViewPr>
  <p:slideViewPr>
    <p:cSldViewPr showGuides="1">
      <p:cViewPr>
        <p:scale>
          <a:sx n="100" d="100"/>
          <a:sy n="100" d="100"/>
        </p:scale>
        <p:origin x="1296" y="158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096"/>
    </p:cViewPr>
  </p:sorterViewPr>
  <p:notesViewPr>
    <p:cSldViewPr>
      <p:cViewPr varScale="1">
        <p:scale>
          <a:sx n="48" d="100"/>
          <a:sy n="48" d="100"/>
        </p:scale>
        <p:origin x="-298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408863-F01F-4A00-9F49-8FD5CEB590E2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A642E1-CBCE-4EA0-BA04-CC20AEF0D818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/>
            <a:t>3</a:t>
          </a:r>
          <a:r>
            <a:rPr lang="en-US" sz="3600" dirty="0"/>
            <a:t>.</a:t>
          </a:r>
          <a:r>
            <a:rPr lang="zh-CN" altLang="en-US" sz="3600" dirty="0"/>
            <a:t>远程电脑控制方法</a:t>
          </a:r>
          <a:r>
            <a:rPr lang="en-US" sz="3600" dirty="0"/>
            <a:t/>
          </a:r>
          <a:endParaRPr lang="en-US" sz="3600" dirty="0"/>
        </a:p>
      </dgm:t>
    </dgm:pt>
    <dgm:pt modelId="{F7A10E1D-C970-47FF-B6D3-4F05C00C8D75}" cxnId="{34D1EEF7-759D-4ECA-9BB5-7DAD29AEB311}" type="parTrans">
      <dgm:prSet/>
      <dgm:spPr/>
      <dgm:t>
        <a:bodyPr/>
        <a:lstStyle/>
        <a:p>
          <a:endParaRPr lang="en-US"/>
        </a:p>
      </dgm:t>
    </dgm:pt>
    <dgm:pt modelId="{B6B58A6A-D1A2-435E-8D07-5486133CCBAD}" cxnId="{34D1EEF7-759D-4ECA-9BB5-7DAD29AEB311}" type="sibTrans">
      <dgm:prSet/>
      <dgm:spPr/>
      <dgm:t>
        <a:bodyPr/>
        <a:lstStyle/>
        <a:p>
          <a:endParaRPr lang="en-US"/>
        </a:p>
      </dgm:t>
    </dgm:pt>
    <dgm:pt modelId="{08784FE5-9724-4AC2-99A6-E1EFD718B090}" type="pres">
      <dgm:prSet presAssocID="{BC408863-F01F-4A00-9F49-8FD5CEB590E2}" presName="Name0" presStyleCnt="0">
        <dgm:presLayoutVars>
          <dgm:dir/>
          <dgm:animLvl val="lvl"/>
          <dgm:resizeHandles val="exact"/>
        </dgm:presLayoutVars>
      </dgm:prSet>
      <dgm:spPr/>
    </dgm:pt>
    <dgm:pt modelId="{9A583339-5D0F-443B-AF7B-1F418A35BEEA}" type="pres">
      <dgm:prSet presAssocID="{F1A642E1-CBCE-4EA0-BA04-CC20AEF0D818}" presName="linNode" presStyleCnt="0"/>
      <dgm:spPr/>
    </dgm:pt>
    <dgm:pt modelId="{66131FC3-241A-45E4-9C3C-E31D458CC2EA}" type="pres">
      <dgm:prSet presAssocID="{F1A642E1-CBCE-4EA0-BA04-CC20AEF0D818}" presName="parentText" presStyleLbl="node1" presStyleIdx="0" presStyleCnt="1" custScaleX="275621">
        <dgm:presLayoutVars>
          <dgm:chMax val="1"/>
          <dgm:bulletEnabled val="1"/>
        </dgm:presLayoutVars>
      </dgm:prSet>
      <dgm:spPr/>
    </dgm:pt>
  </dgm:ptLst>
  <dgm:cxnLst>
    <dgm:cxn modelId="{34D1EEF7-759D-4ECA-9BB5-7DAD29AEB311}" srcId="{BC408863-F01F-4A00-9F49-8FD5CEB590E2}" destId="{F1A642E1-CBCE-4EA0-BA04-CC20AEF0D818}" srcOrd="0" destOrd="0" parTransId="{F7A10E1D-C970-47FF-B6D3-4F05C00C8D75}" sibTransId="{B6B58A6A-D1A2-435E-8D07-5486133CCBAD}"/>
    <dgm:cxn modelId="{6C0E500B-7AA8-4F32-84B1-729E4179202B}" type="presOf" srcId="{BC408863-F01F-4A00-9F49-8FD5CEB590E2}" destId="{08784FE5-9724-4AC2-99A6-E1EFD718B090}" srcOrd="0" destOrd="0" presId="urn:microsoft.com/office/officeart/2005/8/layout/vList5"/>
    <dgm:cxn modelId="{DA81EFC2-4F59-47B3-9D83-4346307E9187}" type="presParOf" srcId="{08784FE5-9724-4AC2-99A6-E1EFD718B090}" destId="{9A583339-5D0F-443B-AF7B-1F418A35BEEA}" srcOrd="0" destOrd="0" presId="urn:microsoft.com/office/officeart/2005/8/layout/vList5"/>
    <dgm:cxn modelId="{13D9A32E-AC55-4736-853F-F29941277C53}" type="presParOf" srcId="{9A583339-5D0F-443B-AF7B-1F418A35BEEA}" destId="{66131FC3-241A-45E4-9C3C-E31D458CC2EA}" srcOrd="0" destOrd="0" presId="urn:microsoft.com/office/officeart/2005/8/layout/vList5"/>
    <dgm:cxn modelId="{8383D2AE-5B63-47F8-A33C-6EC9BCC5C99E}" type="presOf" srcId="{F1A642E1-CBCE-4EA0-BA04-CC20AEF0D818}" destId="{66131FC3-241A-45E4-9C3C-E31D458CC2E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408863-F01F-4A00-9F49-8FD5CEB590E2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A642E1-CBCE-4EA0-BA04-CC20AEF0D818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/>
            <a:t>4</a:t>
          </a:r>
          <a:r>
            <a:rPr lang="en-US" sz="3600" dirty="0"/>
            <a:t>.</a:t>
          </a:r>
          <a:r>
            <a:rPr lang="zh-CN" altLang="en-US" sz="3600" dirty="0"/>
            <a:t>远程手柄方向盘控制</a:t>
          </a:r>
          <a:r>
            <a:rPr lang="en-US" sz="3600" dirty="0"/>
            <a:t/>
          </a:r>
          <a:endParaRPr lang="en-US" sz="3600" dirty="0"/>
        </a:p>
      </dgm:t>
    </dgm:pt>
    <dgm:pt modelId="{F7A10E1D-C970-47FF-B6D3-4F05C00C8D75}" cxnId="{45ABD2ED-BA6A-48CF-90B8-9FEC3D302917}" type="parTrans">
      <dgm:prSet/>
      <dgm:spPr/>
      <dgm:t>
        <a:bodyPr/>
        <a:lstStyle/>
        <a:p>
          <a:endParaRPr lang="en-US"/>
        </a:p>
      </dgm:t>
    </dgm:pt>
    <dgm:pt modelId="{B6B58A6A-D1A2-435E-8D07-5486133CCBAD}" cxnId="{45ABD2ED-BA6A-48CF-90B8-9FEC3D302917}" type="sibTrans">
      <dgm:prSet/>
      <dgm:spPr/>
      <dgm:t>
        <a:bodyPr/>
        <a:lstStyle/>
        <a:p>
          <a:endParaRPr lang="en-US"/>
        </a:p>
      </dgm:t>
    </dgm:pt>
    <dgm:pt modelId="{08784FE5-9724-4AC2-99A6-E1EFD718B090}" type="pres">
      <dgm:prSet presAssocID="{BC408863-F01F-4A00-9F49-8FD5CEB590E2}" presName="Name0" presStyleCnt="0">
        <dgm:presLayoutVars>
          <dgm:dir/>
          <dgm:animLvl val="lvl"/>
          <dgm:resizeHandles val="exact"/>
        </dgm:presLayoutVars>
      </dgm:prSet>
      <dgm:spPr/>
    </dgm:pt>
    <dgm:pt modelId="{9A583339-5D0F-443B-AF7B-1F418A35BEEA}" type="pres">
      <dgm:prSet presAssocID="{F1A642E1-CBCE-4EA0-BA04-CC20AEF0D818}" presName="linNode" presStyleCnt="0"/>
      <dgm:spPr/>
    </dgm:pt>
    <dgm:pt modelId="{66131FC3-241A-45E4-9C3C-E31D458CC2EA}" type="pres">
      <dgm:prSet presAssocID="{F1A642E1-CBCE-4EA0-BA04-CC20AEF0D818}" presName="parentText" presStyleLbl="node1" presStyleIdx="0" presStyleCnt="1" custScaleX="275621">
        <dgm:presLayoutVars>
          <dgm:chMax val="1"/>
          <dgm:bulletEnabled val="1"/>
        </dgm:presLayoutVars>
      </dgm:prSet>
      <dgm:spPr/>
    </dgm:pt>
  </dgm:ptLst>
  <dgm:cxnLst>
    <dgm:cxn modelId="{45ABD2ED-BA6A-48CF-90B8-9FEC3D302917}" srcId="{BC408863-F01F-4A00-9F49-8FD5CEB590E2}" destId="{F1A642E1-CBCE-4EA0-BA04-CC20AEF0D818}" srcOrd="0" destOrd="0" parTransId="{F7A10E1D-C970-47FF-B6D3-4F05C00C8D75}" sibTransId="{B6B58A6A-D1A2-435E-8D07-5486133CCBAD}"/>
    <dgm:cxn modelId="{C43FADF6-2C79-4B87-B673-28AD799A6A38}" type="presOf" srcId="{BC408863-F01F-4A00-9F49-8FD5CEB590E2}" destId="{08784FE5-9724-4AC2-99A6-E1EFD718B090}" srcOrd="0" destOrd="0" presId="urn:microsoft.com/office/officeart/2005/8/layout/vList5"/>
    <dgm:cxn modelId="{AAEB47B0-4024-4030-84DF-3C7731081F1E}" type="presParOf" srcId="{08784FE5-9724-4AC2-99A6-E1EFD718B090}" destId="{9A583339-5D0F-443B-AF7B-1F418A35BEEA}" srcOrd="0" destOrd="0" presId="urn:microsoft.com/office/officeart/2005/8/layout/vList5"/>
    <dgm:cxn modelId="{C0F7B036-B417-4E20-9B1F-69F851952BF7}" type="presParOf" srcId="{9A583339-5D0F-443B-AF7B-1F418A35BEEA}" destId="{66131FC3-241A-45E4-9C3C-E31D458CC2EA}" srcOrd="0" destOrd="0" presId="urn:microsoft.com/office/officeart/2005/8/layout/vList5"/>
    <dgm:cxn modelId="{F183F44F-6C3F-48CD-A6A0-FA60EEC2088C}" type="presOf" srcId="{F1A642E1-CBCE-4EA0-BA04-CC20AEF0D818}" destId="{66131FC3-241A-45E4-9C3C-E31D458CC2E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772472" cy="936104"/>
        <a:chOff x="0" y="0"/>
        <a:chExt cx="5772472" cy="936104"/>
      </a:xfrm>
    </dsp:grpSpPr>
    <dsp:sp modelId="{66131FC3-241A-45E4-9C3C-E31D458CC2EA}">
      <dsp:nvSpPr>
        <dsp:cNvPr id="3" name="圆角矩形 2"/>
        <dsp:cNvSpPr/>
      </dsp:nvSpPr>
      <dsp:spPr bwMode="white">
        <a:xfrm>
          <a:off x="22410" y="0"/>
          <a:ext cx="5727652" cy="93610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37160" tIns="68580" rIns="13716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dirty="0"/>
            <a:t>3</a:t>
          </a:r>
          <a:r>
            <a:rPr lang="en-US" sz="3600" dirty="0"/>
            <a:t>.</a:t>
          </a:r>
          <a:r>
            <a:rPr lang="zh-CN" altLang="en-US" sz="3600" dirty="0"/>
            <a:t>远程电脑控制方法</a:t>
          </a:r>
          <a:endParaRPr lang="en-US" sz="3600" dirty="0"/>
        </a:p>
      </dsp:txBody>
      <dsp:txXfrm>
        <a:off x="22410" y="0"/>
        <a:ext cx="5727652" cy="9361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772472" cy="936104"/>
        <a:chOff x="0" y="0"/>
        <a:chExt cx="5772472" cy="936104"/>
      </a:xfrm>
    </dsp:grpSpPr>
    <dsp:sp modelId="{66131FC3-241A-45E4-9C3C-E31D458CC2EA}">
      <dsp:nvSpPr>
        <dsp:cNvPr id="3" name="圆角矩形 2"/>
        <dsp:cNvSpPr/>
      </dsp:nvSpPr>
      <dsp:spPr bwMode="white">
        <a:xfrm>
          <a:off x="22410" y="0"/>
          <a:ext cx="5727652" cy="93610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37160" tIns="68580" rIns="13716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dirty="0"/>
            <a:t>4</a:t>
          </a:r>
          <a:r>
            <a:rPr lang="en-US" sz="3600" dirty="0"/>
            <a:t>.</a:t>
          </a:r>
          <a:r>
            <a:rPr lang="zh-CN" altLang="en-US" sz="3600" dirty="0"/>
            <a:t>远程手柄方向盘控制</a:t>
          </a:r>
          <a:endParaRPr lang="en-US" sz="3600" dirty="0"/>
        </a:p>
      </dsp:txBody>
      <dsp:txXfrm>
        <a:off x="22410" y="0"/>
        <a:ext cx="5727652" cy="936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Microsoft YaHei" panose="020B0503020204020204" pitchFamily="34" charset="-122"/>
              </a:defRPr>
            </a:lvl1pPr>
          </a:lstStyle>
          <a:p>
            <a:fld id="{872051B9-3A0E-4222-8344-5D0C7013095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Microsoft YaHei" panose="020B0503020204020204" pitchFamily="34" charset="-122"/>
              </a:defRPr>
            </a:lvl1pPr>
          </a:lstStyle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Microsoft YaHei" panose="020B0503020204020204" pitchFamily="34" charset="-122"/>
        <a:cs typeface="+mn-cs"/>
      </a:defRPr>
    </a:lvl3pPr>
    <a:lvl4pPr marL="1370965" algn="l" defTabSz="914400" rtl="0" eaLnBrk="1" latinLnBrk="0" hangingPunct="1">
      <a:defRPr sz="1200" kern="1200">
        <a:solidFill>
          <a:schemeClr val="tx1"/>
        </a:solidFill>
        <a:latin typeface="+mn-lt"/>
        <a:ea typeface="Microsoft YaHei" panose="020B0503020204020204" pitchFamily="34" charset="-122"/>
        <a:cs typeface="+mn-cs"/>
      </a:defRPr>
    </a:lvl4pPr>
    <a:lvl5pPr marL="1828165" algn="l" defTabSz="914400" rtl="0" eaLnBrk="1" latinLnBrk="0" hangingPunct="1">
      <a:defRPr sz="1200" kern="1200">
        <a:solidFill>
          <a:schemeClr val="tx1"/>
        </a:solidFill>
        <a:latin typeface="+mn-lt"/>
        <a:ea typeface="Microsoft YaHei" panose="020B0503020204020204" pitchFamily="34" charset="-122"/>
        <a:cs typeface="+mn-cs"/>
      </a:defRPr>
    </a:lvl5pPr>
    <a:lvl6pPr marL="22853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3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17DC7-FD80-4766-863C-03E91DD80B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:\工作夹\PPT设计\PPT模板\ppt模板2014\s1004\未标题-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8" y="-34303"/>
            <a:ext cx="9149729" cy="51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8174" y="2104155"/>
            <a:ext cx="5727652" cy="935189"/>
            <a:chOff x="22409" y="457"/>
            <a:chExt cx="5727652" cy="935189"/>
          </a:xfrm>
        </p:grpSpPr>
        <p:sp>
          <p:nvSpPr>
            <p:cNvPr id="5" name="矩形: 圆角 4"/>
            <p:cNvSpPr/>
            <p:nvPr/>
          </p:nvSpPr>
          <p:spPr>
            <a:xfrm>
              <a:off x="22409" y="457"/>
              <a:ext cx="5727652" cy="93518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矩形: 圆角 4"/>
            <p:cNvSpPr txBox="1"/>
            <p:nvPr/>
          </p:nvSpPr>
          <p:spPr>
            <a:xfrm>
              <a:off x="68061" y="46109"/>
              <a:ext cx="5636348" cy="8438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68580" rIns="137160" bIns="68580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3600" dirty="0"/>
                <a:t>1.</a:t>
              </a:r>
              <a:r>
                <a:rPr lang="zh-CN" altLang="en-US" sz="3600" dirty="0"/>
                <a:t>一体式摄像头驱动安装</a:t>
              </a:r>
              <a:endParaRPr lang="en-US" sz="3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-26370" y="70944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摄像头麦克风一体设备驱动安装</a:t>
            </a:r>
            <a:endParaRPr 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44068" y="1203896"/>
            <a:ext cx="4648200" cy="278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</a:t>
            </a:r>
            <a:r>
              <a:rPr lang="en-US" dirty="0" err="1"/>
              <a:t>更新树莓派，在终端输入以下指令</a:t>
            </a:r>
            <a:r>
              <a:rPr lang="en-US" dirty="0"/>
              <a:t>：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 err="1"/>
              <a:t>sudo</a:t>
            </a:r>
            <a:r>
              <a:rPr lang="en-US" dirty="0"/>
              <a:t> apt-get update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 err="1"/>
              <a:t>sudo</a:t>
            </a:r>
            <a:r>
              <a:rPr lang="en-US" dirty="0"/>
              <a:t> apt-get upgrade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2. </a:t>
            </a:r>
            <a:r>
              <a:rPr lang="en-US" dirty="0" err="1"/>
              <a:t>安装audacity软件</a:t>
            </a:r>
            <a:r>
              <a:rPr lang="zh-CN" altLang="en-US" dirty="0"/>
              <a:t>，</a:t>
            </a:r>
            <a:r>
              <a:rPr lang="en-US" dirty="0" err="1"/>
              <a:t>在终端输入指令</a:t>
            </a:r>
            <a:r>
              <a:rPr lang="en-US" dirty="0"/>
              <a:t>：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 err="1"/>
              <a:t>sudo</a:t>
            </a:r>
            <a:r>
              <a:rPr lang="en-US" dirty="0"/>
              <a:t> apt install audacity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8174" y="2104155"/>
            <a:ext cx="5727652" cy="935189"/>
            <a:chOff x="22409" y="457"/>
            <a:chExt cx="5727652" cy="935189"/>
          </a:xfrm>
        </p:grpSpPr>
        <p:sp>
          <p:nvSpPr>
            <p:cNvPr id="5" name="矩形: 圆角 4"/>
            <p:cNvSpPr/>
            <p:nvPr/>
          </p:nvSpPr>
          <p:spPr>
            <a:xfrm>
              <a:off x="22409" y="457"/>
              <a:ext cx="5727652" cy="93518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矩形: 圆角 4"/>
            <p:cNvSpPr txBox="1"/>
            <p:nvPr/>
          </p:nvSpPr>
          <p:spPr>
            <a:xfrm>
              <a:off x="68061" y="46109"/>
              <a:ext cx="5636348" cy="8438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68580" rIns="137160" bIns="68580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3600" dirty="0"/>
                <a:t>2.</a:t>
              </a:r>
              <a:r>
                <a:rPr lang="zh-CN" altLang="en-US" sz="3600" dirty="0"/>
                <a:t>硬件搭建</a:t>
              </a:r>
              <a:endParaRPr lang="en-US" sz="3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-46705"/>
            <a:ext cx="6422921" cy="5190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1835696" y="2283718"/>
          <a:ext cx="5772472" cy="936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登录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4570" y="2364224"/>
            <a:ext cx="4579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浏览器输入控制网址登录</a:t>
            </a:r>
            <a:endParaRPr lang="en-US" altLang="zh-CN" dirty="0"/>
          </a:p>
          <a:p>
            <a:r>
              <a:rPr lang="en-US" dirty="0" err="1"/>
              <a:t>nrc.smartcar.run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主界面介绍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4913"/>
            <a:ext cx="9144000" cy="4036368"/>
          </a:xfrm>
          <a:prstGeom prst="rect">
            <a:avLst/>
          </a:prstGeom>
        </p:spPr>
      </p:pic>
      <p:sp>
        <p:nvSpPr>
          <p:cNvPr id="5" name="标注: 弯曲线形 4"/>
          <p:cNvSpPr/>
          <p:nvPr/>
        </p:nvSpPr>
        <p:spPr>
          <a:xfrm>
            <a:off x="755576" y="726288"/>
            <a:ext cx="1152128" cy="267260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HOME</a:t>
            </a:r>
            <a:r>
              <a:rPr lang="zh-CN" altLang="en-US" sz="800" dirty="0"/>
              <a:t>按钮</a:t>
            </a:r>
            <a:endParaRPr lang="en-US" sz="800" dirty="0"/>
          </a:p>
        </p:txBody>
      </p:sp>
      <p:sp>
        <p:nvSpPr>
          <p:cNvPr id="6" name="标注: 弯曲线形 5"/>
          <p:cNvSpPr/>
          <p:nvPr/>
        </p:nvSpPr>
        <p:spPr>
          <a:xfrm>
            <a:off x="24056" y="1491630"/>
            <a:ext cx="785566" cy="204459"/>
          </a:xfrm>
          <a:prstGeom prst="borderCallout2">
            <a:avLst>
              <a:gd name="adj1" fmla="val 3842"/>
              <a:gd name="adj2" fmla="val 96427"/>
              <a:gd name="adj3" fmla="val -70696"/>
              <a:gd name="adj4" fmla="val 98763"/>
              <a:gd name="adj5" fmla="val -135307"/>
              <a:gd name="adj6" fmla="val 1033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延时提示</a:t>
            </a:r>
            <a:endParaRPr lang="en-US" sz="800" dirty="0"/>
          </a:p>
        </p:txBody>
      </p:sp>
      <p:sp>
        <p:nvSpPr>
          <p:cNvPr id="17" name="标注: 弯曲线形 16"/>
          <p:cNvSpPr/>
          <p:nvPr/>
        </p:nvSpPr>
        <p:spPr>
          <a:xfrm>
            <a:off x="315298" y="1948347"/>
            <a:ext cx="785566" cy="204459"/>
          </a:xfrm>
          <a:prstGeom prst="borderCallout2">
            <a:avLst>
              <a:gd name="adj1" fmla="val 3842"/>
              <a:gd name="adj2" fmla="val 96427"/>
              <a:gd name="adj3" fmla="val -70696"/>
              <a:gd name="adj4" fmla="val 98763"/>
              <a:gd name="adj5" fmla="val -362648"/>
              <a:gd name="adj6" fmla="val 1304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电调开关</a:t>
            </a:r>
            <a:endParaRPr lang="en-US" sz="800" dirty="0"/>
          </a:p>
        </p:txBody>
      </p:sp>
      <p:sp>
        <p:nvSpPr>
          <p:cNvPr id="18" name="标注: 弯曲线形 17"/>
          <p:cNvSpPr/>
          <p:nvPr/>
        </p:nvSpPr>
        <p:spPr>
          <a:xfrm>
            <a:off x="1305313" y="1491629"/>
            <a:ext cx="785566" cy="288033"/>
          </a:xfrm>
          <a:prstGeom prst="borderCallout2">
            <a:avLst>
              <a:gd name="adj1" fmla="val -1449"/>
              <a:gd name="adj2" fmla="val 42107"/>
              <a:gd name="adj3" fmla="val -55190"/>
              <a:gd name="adj4" fmla="val 50263"/>
              <a:gd name="adj5" fmla="val -112694"/>
              <a:gd name="adj6" fmla="val 558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车灯开关</a:t>
            </a:r>
            <a:endParaRPr lang="en-US" altLang="zh-CN" sz="800" dirty="0"/>
          </a:p>
          <a:p>
            <a:pPr algn="ctr"/>
            <a:r>
              <a:rPr lang="zh-CN" altLang="en-US" sz="800" dirty="0"/>
              <a:t>（暂时不用）</a:t>
            </a:r>
            <a:endParaRPr lang="en-US" sz="800" dirty="0"/>
          </a:p>
        </p:txBody>
      </p:sp>
      <p:sp>
        <p:nvSpPr>
          <p:cNvPr id="19" name="标注: 弯曲线形 18"/>
          <p:cNvSpPr/>
          <p:nvPr/>
        </p:nvSpPr>
        <p:spPr>
          <a:xfrm>
            <a:off x="1547664" y="1859623"/>
            <a:ext cx="1008112" cy="204459"/>
          </a:xfrm>
          <a:prstGeom prst="borderCallout2">
            <a:avLst>
              <a:gd name="adj1" fmla="val 3842"/>
              <a:gd name="adj2" fmla="val 96427"/>
              <a:gd name="adj3" fmla="val -89330"/>
              <a:gd name="adj4" fmla="val 72573"/>
              <a:gd name="adj5" fmla="val -329106"/>
              <a:gd name="adj6" fmla="val 57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电脑麦克风开关</a:t>
            </a:r>
            <a:endParaRPr lang="en-US" sz="800" dirty="0"/>
          </a:p>
        </p:txBody>
      </p:sp>
      <p:sp>
        <p:nvSpPr>
          <p:cNvPr id="20" name="标注: 弯曲线形 19"/>
          <p:cNvSpPr/>
          <p:nvPr/>
        </p:nvSpPr>
        <p:spPr>
          <a:xfrm>
            <a:off x="3059832" y="733832"/>
            <a:ext cx="1152128" cy="267260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小车麦克风开关</a:t>
            </a:r>
            <a:endParaRPr lang="en-US" sz="800" dirty="0"/>
          </a:p>
        </p:txBody>
      </p:sp>
      <p:sp>
        <p:nvSpPr>
          <p:cNvPr id="21" name="标注: 弯曲线形 20"/>
          <p:cNvSpPr/>
          <p:nvPr/>
        </p:nvSpPr>
        <p:spPr>
          <a:xfrm>
            <a:off x="2715756" y="1857250"/>
            <a:ext cx="1152128" cy="267260"/>
          </a:xfrm>
          <a:prstGeom prst="borderCallout2">
            <a:avLst>
              <a:gd name="adj1" fmla="val 1643"/>
              <a:gd name="adj2" fmla="val 2911"/>
              <a:gd name="adj3" fmla="val -106701"/>
              <a:gd name="adj4" fmla="val 7143"/>
              <a:gd name="adj5" fmla="val -246746"/>
              <a:gd name="adj6" fmla="val 115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主界面</a:t>
            </a:r>
            <a:r>
              <a:rPr lang="en-US" altLang="zh-CN" sz="800" dirty="0"/>
              <a:t>UI</a:t>
            </a:r>
            <a:r>
              <a:rPr lang="zh-CN" altLang="en-US" sz="800" dirty="0"/>
              <a:t>编辑按键</a:t>
            </a:r>
            <a:endParaRPr lang="en-US" sz="800" dirty="0"/>
          </a:p>
        </p:txBody>
      </p:sp>
      <p:sp>
        <p:nvSpPr>
          <p:cNvPr id="22" name="标注: 弯曲线形 21"/>
          <p:cNvSpPr/>
          <p:nvPr/>
        </p:nvSpPr>
        <p:spPr>
          <a:xfrm>
            <a:off x="3059832" y="1526277"/>
            <a:ext cx="1152128" cy="267260"/>
          </a:xfrm>
          <a:prstGeom prst="borderCallout2">
            <a:avLst>
              <a:gd name="adj1" fmla="val 1643"/>
              <a:gd name="adj2" fmla="val 2911"/>
              <a:gd name="adj3" fmla="val -58231"/>
              <a:gd name="adj4" fmla="val 3836"/>
              <a:gd name="adj5" fmla="val -129848"/>
              <a:gd name="adj6" fmla="val 62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总设置按钮</a:t>
            </a:r>
            <a:endParaRPr lang="en-US" sz="800" dirty="0"/>
          </a:p>
        </p:txBody>
      </p:sp>
      <p:sp>
        <p:nvSpPr>
          <p:cNvPr id="23" name="标注: 弯曲线形 22"/>
          <p:cNvSpPr/>
          <p:nvPr/>
        </p:nvSpPr>
        <p:spPr>
          <a:xfrm>
            <a:off x="4366573" y="1483696"/>
            <a:ext cx="833911" cy="267260"/>
          </a:xfrm>
          <a:prstGeom prst="borderCallout2">
            <a:avLst>
              <a:gd name="adj1" fmla="val 1643"/>
              <a:gd name="adj2" fmla="val 2911"/>
              <a:gd name="adj3" fmla="val -49677"/>
              <a:gd name="adj4" fmla="val -44618"/>
              <a:gd name="adj5" fmla="val -107038"/>
              <a:gd name="adj6" fmla="val -1187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全屏按钮</a:t>
            </a:r>
            <a:endParaRPr lang="en-US" sz="800" dirty="0"/>
          </a:p>
        </p:txBody>
      </p:sp>
      <p:sp>
        <p:nvSpPr>
          <p:cNvPr id="25" name="标注: 弯曲线形 24"/>
          <p:cNvSpPr/>
          <p:nvPr/>
        </p:nvSpPr>
        <p:spPr>
          <a:xfrm>
            <a:off x="4860032" y="733832"/>
            <a:ext cx="1152128" cy="267260"/>
          </a:xfrm>
          <a:prstGeom prst="borderCallout2">
            <a:avLst>
              <a:gd name="adj1" fmla="val 18750"/>
              <a:gd name="adj2" fmla="val -8333"/>
              <a:gd name="adj3" fmla="val 95731"/>
              <a:gd name="adj4" fmla="val -19974"/>
              <a:gd name="adj5" fmla="val 158119"/>
              <a:gd name="adj6" fmla="val -1088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树莓派关闭重启按钮</a:t>
            </a:r>
            <a:endParaRPr lang="en-US" sz="800" dirty="0"/>
          </a:p>
        </p:txBody>
      </p:sp>
      <p:sp>
        <p:nvSpPr>
          <p:cNvPr id="26" name="标注: 弯曲线形 25"/>
          <p:cNvSpPr/>
          <p:nvPr/>
        </p:nvSpPr>
        <p:spPr>
          <a:xfrm>
            <a:off x="315298" y="3006415"/>
            <a:ext cx="1152128" cy="267260"/>
          </a:xfrm>
          <a:prstGeom prst="borderCallout2">
            <a:avLst>
              <a:gd name="adj1" fmla="val 81475"/>
              <a:gd name="adj2" fmla="val 25398"/>
              <a:gd name="adj3" fmla="val 226885"/>
              <a:gd name="adj4" fmla="val 31614"/>
              <a:gd name="adj5" fmla="val 246504"/>
              <a:gd name="adj6" fmla="val 393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云台控制摇杆</a:t>
            </a:r>
            <a:endParaRPr lang="en-US" sz="800" dirty="0"/>
          </a:p>
        </p:txBody>
      </p:sp>
      <p:sp>
        <p:nvSpPr>
          <p:cNvPr id="27" name="标注: 弯曲线形 26"/>
          <p:cNvSpPr/>
          <p:nvPr/>
        </p:nvSpPr>
        <p:spPr>
          <a:xfrm>
            <a:off x="1679820" y="3197005"/>
            <a:ext cx="1152128" cy="267260"/>
          </a:xfrm>
          <a:prstGeom prst="borderCallout2">
            <a:avLst>
              <a:gd name="adj1" fmla="val 1643"/>
              <a:gd name="adj2" fmla="val 2911"/>
              <a:gd name="adj3" fmla="val -75338"/>
              <a:gd name="adj4" fmla="val -11376"/>
              <a:gd name="adj5" fmla="val -252448"/>
              <a:gd name="adj6" fmla="val -182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摄像头</a:t>
            </a:r>
            <a:r>
              <a:rPr lang="en-US" altLang="zh-CN" sz="800" dirty="0"/>
              <a:t>1</a:t>
            </a:r>
            <a:r>
              <a:rPr lang="zh-CN" altLang="en-US" sz="800" dirty="0"/>
              <a:t>画面</a:t>
            </a:r>
            <a:endParaRPr lang="en-US" sz="800" dirty="0"/>
          </a:p>
        </p:txBody>
      </p:sp>
      <p:sp>
        <p:nvSpPr>
          <p:cNvPr id="28" name="标注: 弯曲线形 27"/>
          <p:cNvSpPr/>
          <p:nvPr/>
        </p:nvSpPr>
        <p:spPr>
          <a:xfrm>
            <a:off x="4257680" y="2785837"/>
            <a:ext cx="1152128" cy="267260"/>
          </a:xfrm>
          <a:prstGeom prst="borderCallout2">
            <a:avLst>
              <a:gd name="adj1" fmla="val 1643"/>
              <a:gd name="adj2" fmla="val 2911"/>
              <a:gd name="adj3" fmla="val 67220"/>
              <a:gd name="adj4" fmla="val -21297"/>
              <a:gd name="adj5" fmla="val 189481"/>
              <a:gd name="adj6" fmla="val -698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前进后退滑块</a:t>
            </a:r>
            <a:endParaRPr lang="en-US" sz="800" dirty="0"/>
          </a:p>
        </p:txBody>
      </p:sp>
      <p:sp>
        <p:nvSpPr>
          <p:cNvPr id="29" name="标注: 弯曲线形 28"/>
          <p:cNvSpPr/>
          <p:nvPr/>
        </p:nvSpPr>
        <p:spPr>
          <a:xfrm>
            <a:off x="6312054" y="3464265"/>
            <a:ext cx="1152128" cy="267260"/>
          </a:xfrm>
          <a:prstGeom prst="borderCallout2">
            <a:avLst>
              <a:gd name="adj1" fmla="val 1643"/>
              <a:gd name="adj2" fmla="val 2911"/>
              <a:gd name="adj3" fmla="val 67220"/>
              <a:gd name="adj4" fmla="val -21297"/>
              <a:gd name="adj5" fmla="val 189481"/>
              <a:gd name="adj6" fmla="val -698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左右方向滑块</a:t>
            </a:r>
            <a:endParaRPr lang="en-US" sz="800" dirty="0"/>
          </a:p>
        </p:txBody>
      </p:sp>
      <p:sp>
        <p:nvSpPr>
          <p:cNvPr id="30" name="标注: 弯曲线形 29"/>
          <p:cNvSpPr/>
          <p:nvPr/>
        </p:nvSpPr>
        <p:spPr>
          <a:xfrm>
            <a:off x="6804248" y="2304490"/>
            <a:ext cx="1152128" cy="267260"/>
          </a:xfrm>
          <a:prstGeom prst="borderCallout2">
            <a:avLst>
              <a:gd name="adj1" fmla="val 1643"/>
              <a:gd name="adj2" fmla="val 2911"/>
              <a:gd name="adj3" fmla="val 67220"/>
              <a:gd name="adj4" fmla="val -21297"/>
              <a:gd name="adj5" fmla="val 189481"/>
              <a:gd name="adj6" fmla="val -698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摄像头</a:t>
            </a:r>
            <a:r>
              <a:rPr lang="en-US" altLang="zh-CN" sz="800" dirty="0"/>
              <a:t>2</a:t>
            </a:r>
            <a:r>
              <a:rPr lang="zh-CN" altLang="en-US" sz="800" dirty="0"/>
              <a:t>画面</a:t>
            </a:r>
            <a:endParaRPr lang="en-US" sz="800" dirty="0"/>
          </a:p>
        </p:txBody>
      </p:sp>
      <p:sp>
        <p:nvSpPr>
          <p:cNvPr id="31" name="标注: 弯曲线形 30"/>
          <p:cNvSpPr/>
          <p:nvPr/>
        </p:nvSpPr>
        <p:spPr>
          <a:xfrm>
            <a:off x="317591" y="3738985"/>
            <a:ext cx="1152128" cy="267260"/>
          </a:xfrm>
          <a:prstGeom prst="borderCallout2">
            <a:avLst>
              <a:gd name="adj1" fmla="val 1643"/>
              <a:gd name="adj2" fmla="val 2911"/>
              <a:gd name="adj3" fmla="val 92880"/>
              <a:gd name="adj4" fmla="val 1851"/>
              <a:gd name="adj5" fmla="val 417573"/>
              <a:gd name="adj6" fmla="val -36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方向舵机微调</a:t>
            </a:r>
            <a:endParaRPr lang="en-US" sz="800" dirty="0"/>
          </a:p>
        </p:txBody>
      </p:sp>
      <p:sp>
        <p:nvSpPr>
          <p:cNvPr id="32" name="标注: 弯曲线形 31"/>
          <p:cNvSpPr/>
          <p:nvPr/>
        </p:nvSpPr>
        <p:spPr>
          <a:xfrm>
            <a:off x="558774" y="4051800"/>
            <a:ext cx="1152128" cy="267260"/>
          </a:xfrm>
          <a:prstGeom prst="borderCallout2">
            <a:avLst>
              <a:gd name="adj1" fmla="val 1643"/>
              <a:gd name="adj2" fmla="val 2911"/>
              <a:gd name="adj3" fmla="val 149903"/>
              <a:gd name="adj4" fmla="val 3836"/>
              <a:gd name="adj5" fmla="val 297825"/>
              <a:gd name="adj6" fmla="val 8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前进动力调整</a:t>
            </a:r>
            <a:endParaRPr lang="en-US" sz="800" dirty="0"/>
          </a:p>
        </p:txBody>
      </p:sp>
      <p:sp>
        <p:nvSpPr>
          <p:cNvPr id="33" name="标注: 弯曲线形 32"/>
          <p:cNvSpPr/>
          <p:nvPr/>
        </p:nvSpPr>
        <p:spPr>
          <a:xfrm>
            <a:off x="729249" y="4364434"/>
            <a:ext cx="1152128" cy="267260"/>
          </a:xfrm>
          <a:prstGeom prst="borderCallout2">
            <a:avLst>
              <a:gd name="adj1" fmla="val 107136"/>
              <a:gd name="adj2" fmla="val 265"/>
              <a:gd name="adj3" fmla="val 144201"/>
              <a:gd name="adj4" fmla="val 25000"/>
              <a:gd name="adj5" fmla="val 175225"/>
              <a:gd name="adj6" fmla="val 439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后退动力调整</a:t>
            </a:r>
            <a:endParaRPr lang="en-US" sz="800" dirty="0"/>
          </a:p>
        </p:txBody>
      </p:sp>
      <p:sp>
        <p:nvSpPr>
          <p:cNvPr id="35" name="标注: 弯曲线形 34"/>
          <p:cNvSpPr/>
          <p:nvPr/>
        </p:nvSpPr>
        <p:spPr>
          <a:xfrm>
            <a:off x="2175100" y="3624402"/>
            <a:ext cx="1152128" cy="267260"/>
          </a:xfrm>
          <a:prstGeom prst="borderCallout2">
            <a:avLst>
              <a:gd name="adj1" fmla="val 101433"/>
              <a:gd name="adj2" fmla="val 927"/>
              <a:gd name="adj3" fmla="val 392252"/>
              <a:gd name="adj4" fmla="val -21958"/>
              <a:gd name="adj5" fmla="val 466044"/>
              <a:gd name="adj6" fmla="val -426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启用手柄按键</a:t>
            </a:r>
            <a:endParaRPr lang="en-US" sz="800" dirty="0"/>
          </a:p>
        </p:txBody>
      </p:sp>
      <p:sp>
        <p:nvSpPr>
          <p:cNvPr id="36" name="标注: 弯曲线形 35"/>
          <p:cNvSpPr/>
          <p:nvPr/>
        </p:nvSpPr>
        <p:spPr>
          <a:xfrm>
            <a:off x="2295572" y="3958914"/>
            <a:ext cx="1152128" cy="267260"/>
          </a:xfrm>
          <a:prstGeom prst="borderCallout2">
            <a:avLst>
              <a:gd name="adj1" fmla="val 101433"/>
              <a:gd name="adj2" fmla="val 927"/>
              <a:gd name="adj3" fmla="val 195522"/>
              <a:gd name="adj4" fmla="val -14021"/>
              <a:gd name="adj5" fmla="val 323486"/>
              <a:gd name="adj6" fmla="val -261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功能未开放</a:t>
            </a:r>
            <a:endParaRPr lang="en-US" sz="800" dirty="0"/>
          </a:p>
        </p:txBody>
      </p:sp>
      <p:sp>
        <p:nvSpPr>
          <p:cNvPr id="37" name="标注: 弯曲线形 36"/>
          <p:cNvSpPr/>
          <p:nvPr/>
        </p:nvSpPr>
        <p:spPr>
          <a:xfrm>
            <a:off x="2445059" y="4281146"/>
            <a:ext cx="1152128" cy="267260"/>
          </a:xfrm>
          <a:prstGeom prst="borderCallout2">
            <a:avLst>
              <a:gd name="adj1" fmla="val 101433"/>
              <a:gd name="adj2" fmla="val 927"/>
              <a:gd name="adj3" fmla="val 155606"/>
              <a:gd name="adj4" fmla="val -2777"/>
              <a:gd name="adj5" fmla="val 223696"/>
              <a:gd name="adj6" fmla="val -63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电脑键盘按键提示</a:t>
            </a:r>
            <a:endParaRPr lang="en-US" sz="800" dirty="0"/>
          </a:p>
        </p:txBody>
      </p:sp>
      <p:sp>
        <p:nvSpPr>
          <p:cNvPr id="38" name="标注: 弯曲线形 37"/>
          <p:cNvSpPr/>
          <p:nvPr/>
        </p:nvSpPr>
        <p:spPr>
          <a:xfrm>
            <a:off x="4677425" y="4230804"/>
            <a:ext cx="1152128" cy="267260"/>
          </a:xfrm>
          <a:prstGeom prst="borderCallout2">
            <a:avLst>
              <a:gd name="adj1" fmla="val 1643"/>
              <a:gd name="adj2" fmla="val 2911"/>
              <a:gd name="adj3" fmla="val 52964"/>
              <a:gd name="adj4" fmla="val -30556"/>
              <a:gd name="adj5" fmla="val 217993"/>
              <a:gd name="adj6" fmla="val -1624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发送文字转语音</a:t>
            </a:r>
            <a:endParaRPr lang="en-US" sz="800" dirty="0"/>
          </a:p>
        </p:txBody>
      </p:sp>
      <p:sp>
        <p:nvSpPr>
          <p:cNvPr id="39" name="标注: 弯曲线形 38"/>
          <p:cNvSpPr/>
          <p:nvPr/>
        </p:nvSpPr>
        <p:spPr>
          <a:xfrm>
            <a:off x="4783528" y="4554516"/>
            <a:ext cx="1152128" cy="267260"/>
          </a:xfrm>
          <a:prstGeom prst="borderCallout2">
            <a:avLst>
              <a:gd name="adj1" fmla="val 1643"/>
              <a:gd name="adj2" fmla="val 2911"/>
              <a:gd name="adj3" fmla="val 13048"/>
              <a:gd name="adj4" fmla="val -37831"/>
              <a:gd name="adj5" fmla="val 89691"/>
              <a:gd name="adj6" fmla="val -1386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鸣笛</a:t>
            </a:r>
            <a:endParaRPr lang="en-US" sz="800" dirty="0"/>
          </a:p>
        </p:txBody>
      </p:sp>
      <p:sp>
        <p:nvSpPr>
          <p:cNvPr id="40" name="标注: 弯曲线形 39"/>
          <p:cNvSpPr/>
          <p:nvPr/>
        </p:nvSpPr>
        <p:spPr>
          <a:xfrm>
            <a:off x="4783528" y="4860473"/>
            <a:ext cx="1152128" cy="267260"/>
          </a:xfrm>
          <a:prstGeom prst="borderCallout2">
            <a:avLst>
              <a:gd name="adj1" fmla="val 1643"/>
              <a:gd name="adj2" fmla="val 2911"/>
              <a:gd name="adj3" fmla="val 4494"/>
              <a:gd name="adj4" fmla="val -38493"/>
              <a:gd name="adj5" fmla="val 18412"/>
              <a:gd name="adj6" fmla="val -969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更多音效</a:t>
            </a:r>
            <a:endParaRPr lang="en-US" sz="800" dirty="0"/>
          </a:p>
        </p:txBody>
      </p:sp>
      <p:sp>
        <p:nvSpPr>
          <p:cNvPr id="41" name="标注: 弯曲线形 40"/>
          <p:cNvSpPr/>
          <p:nvPr/>
        </p:nvSpPr>
        <p:spPr>
          <a:xfrm>
            <a:off x="6660232" y="3958914"/>
            <a:ext cx="1152128" cy="267260"/>
          </a:xfrm>
          <a:prstGeom prst="borderCallout2">
            <a:avLst>
              <a:gd name="adj1" fmla="val 95731"/>
              <a:gd name="adj2" fmla="val 99473"/>
              <a:gd name="adj3" fmla="val 172713"/>
              <a:gd name="adj4" fmla="val 120239"/>
              <a:gd name="adj5" fmla="val 192332"/>
              <a:gd name="adj6" fmla="val 1491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电脑麦克风提示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544" y="1203598"/>
            <a:ext cx="851386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</a:t>
            </a:r>
            <a:r>
              <a:rPr lang="zh-CN" altLang="en-US" dirty="0"/>
              <a:t>按钮：点击即可回到主控制界面。</a:t>
            </a:r>
            <a:endParaRPr lang="en-US" altLang="zh-CN" dirty="0"/>
          </a:p>
          <a:p>
            <a:r>
              <a:rPr lang="zh-CN" altLang="en-US" dirty="0"/>
              <a:t>延时提示：控制器与小车信息传递的延时值，</a:t>
            </a:r>
            <a:r>
              <a:rPr lang="en-US" altLang="zh-CN" dirty="0"/>
              <a:t>200</a:t>
            </a:r>
            <a:r>
              <a:rPr lang="zh-CN" altLang="en-US" dirty="0"/>
              <a:t>以上会感受到卡顿。</a:t>
            </a:r>
            <a:endParaRPr lang="en-US" altLang="zh-CN" dirty="0"/>
          </a:p>
          <a:p>
            <a:r>
              <a:rPr lang="zh-CN" altLang="en-US" dirty="0"/>
              <a:t>电调开关：运行时请打开，否则可能没有动力。</a:t>
            </a:r>
            <a:endParaRPr lang="en-US" altLang="zh-CN" dirty="0"/>
          </a:p>
          <a:p>
            <a:r>
              <a:rPr lang="zh-CN" altLang="en-US" dirty="0"/>
              <a:t>电脑麦克风开关：运行时请打开，否则无法发送语音。</a:t>
            </a:r>
            <a:endParaRPr lang="en-US" altLang="zh-CN" dirty="0"/>
          </a:p>
          <a:p>
            <a:r>
              <a:rPr lang="zh-CN" altLang="en-US" dirty="0"/>
              <a:t>小车麦克风开关：运行时请打开，否则无法接收语音。</a:t>
            </a:r>
            <a:endParaRPr lang="en-US" altLang="zh-CN" dirty="0"/>
          </a:p>
          <a:p>
            <a:r>
              <a:rPr lang="zh-CN" altLang="en-US" dirty="0"/>
              <a:t>主界面</a:t>
            </a:r>
            <a:r>
              <a:rPr lang="en-US" altLang="zh-CN" dirty="0"/>
              <a:t>UI</a:t>
            </a:r>
            <a:r>
              <a:rPr lang="zh-CN" altLang="en-US" dirty="0"/>
              <a:t>编辑按钮：打开即可编辑主界面各模块的位置大小，关闭保存界面配置。</a:t>
            </a:r>
            <a:endParaRPr lang="en-US" altLang="zh-CN" dirty="0"/>
          </a:p>
          <a:p>
            <a:r>
              <a:rPr lang="zh-CN" altLang="en-US" dirty="0"/>
              <a:t>全屏按钮：点击全屏操作小车。</a:t>
            </a:r>
            <a:endParaRPr lang="en-US" altLang="zh-CN" dirty="0"/>
          </a:p>
          <a:p>
            <a:r>
              <a:rPr lang="zh-CN" altLang="en-US" dirty="0"/>
              <a:t>树莓派关闭重启：控制树莓派关机重启。</a:t>
            </a:r>
            <a:endParaRPr lang="en-US" altLang="zh-CN" dirty="0"/>
          </a:p>
          <a:p>
            <a:r>
              <a:rPr lang="zh-CN" altLang="en-US" dirty="0"/>
              <a:t>云台控制摇杆：控制云台</a:t>
            </a:r>
            <a:r>
              <a:rPr lang="en-US" altLang="zh-CN" dirty="0"/>
              <a:t>XY</a:t>
            </a:r>
            <a:r>
              <a:rPr lang="zh-CN" altLang="en-US" dirty="0"/>
              <a:t>转动。</a:t>
            </a:r>
            <a:endParaRPr lang="en-US" altLang="zh-CN" dirty="0"/>
          </a:p>
          <a:p>
            <a:r>
              <a:rPr lang="zh-CN" altLang="en-US" dirty="0"/>
              <a:t>前进后退滑块：控制小车前进后退。</a:t>
            </a:r>
            <a:endParaRPr lang="en-US" altLang="zh-CN" dirty="0"/>
          </a:p>
          <a:p>
            <a:r>
              <a:rPr lang="zh-CN" altLang="en-US" dirty="0"/>
              <a:t>左右方向滑块：控制小车转弯。</a:t>
            </a:r>
            <a:endParaRPr lang="en-US" altLang="zh-CN" dirty="0"/>
          </a:p>
          <a:p>
            <a:r>
              <a:rPr lang="zh-CN" altLang="en-US" dirty="0"/>
              <a:t>摄像头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：显示相应摄像头画面。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544" y="1203598"/>
            <a:ext cx="826380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修正：调整小车方向舵机，保证复位时小车指向正前方。</a:t>
            </a:r>
            <a:endParaRPr lang="en-US" altLang="zh-CN" dirty="0"/>
          </a:p>
          <a:p>
            <a:r>
              <a:rPr lang="zh-CN" altLang="en-US" dirty="0"/>
              <a:t>前进动力调整：调整小车前进时的动力大小，相同滑杆量实现不同动力输出。</a:t>
            </a:r>
            <a:endParaRPr lang="en-US" altLang="zh-CN" dirty="0"/>
          </a:p>
          <a:p>
            <a:r>
              <a:rPr lang="zh-CN" altLang="en-US" dirty="0"/>
              <a:t>后退动力调整：调整小车后退时的动力大小，相同滑杆量实现不同动力输出。</a:t>
            </a:r>
            <a:endParaRPr lang="en-US" altLang="zh-CN" dirty="0"/>
          </a:p>
          <a:p>
            <a:r>
              <a:rPr lang="zh-CN" altLang="en-US" dirty="0"/>
              <a:t>手柄按键：使用手柄操作时打开。</a:t>
            </a:r>
            <a:endParaRPr lang="en-US" altLang="zh-CN" dirty="0"/>
          </a:p>
          <a:p>
            <a:r>
              <a:rPr lang="zh-CN" altLang="en-US" dirty="0"/>
              <a:t>电脑按键提示：提示电脑按键对应的功能。</a:t>
            </a:r>
            <a:endParaRPr lang="en-US" altLang="zh-CN" dirty="0"/>
          </a:p>
          <a:p>
            <a:r>
              <a:rPr lang="zh-CN" altLang="en-US" dirty="0"/>
              <a:t>发送文字转语音：输入文字，小车即可读出来。</a:t>
            </a:r>
            <a:endParaRPr lang="en-US" altLang="zh-CN" dirty="0"/>
          </a:p>
          <a:p>
            <a:r>
              <a:rPr lang="zh-CN" altLang="en-US" dirty="0"/>
              <a:t>鸣笛：按一下，小车会滴一下。</a:t>
            </a:r>
            <a:endParaRPr lang="en-US" altLang="zh-CN" dirty="0"/>
          </a:p>
          <a:p>
            <a:r>
              <a:rPr lang="zh-CN" altLang="en-US" dirty="0"/>
              <a:t>更多音效：小车发出更多音效。</a:t>
            </a:r>
            <a:endParaRPr lang="en-US" altLang="zh-CN" dirty="0"/>
          </a:p>
          <a:p>
            <a:r>
              <a:rPr lang="zh-CN" altLang="en-US" dirty="0"/>
              <a:t>电脑麦克风提示：当电脑麦克风接收声音给小车时，会有周星驰画面提示出现。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总设置按钮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04" y="1779662"/>
            <a:ext cx="8716591" cy="303889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5576" y="113159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按下总设置按钮，即可看到如下画面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1347614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连接设置：显示连接的网址，使用默认设计即可。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5686"/>
            <a:ext cx="9144000" cy="2675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826962"/>
            <a:ext cx="6417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基本设置：显示油门和方向对应的通道，自动刹车比较重要，</a:t>
            </a:r>
            <a:endParaRPr lang="en-US" altLang="zh-CN" dirty="0"/>
          </a:p>
          <a:p>
            <a:r>
              <a:rPr lang="zh-CN" altLang="en-US" dirty="0"/>
              <a:t>当延时过高时，会失去对小车的及时控制，容易发生危险，但</a:t>
            </a:r>
            <a:endParaRPr lang="en-US" altLang="zh-CN" dirty="0"/>
          </a:p>
          <a:p>
            <a:r>
              <a:rPr lang="zh-CN" altLang="en-US" dirty="0"/>
              <a:t>是设置的太低所会影响操控体验，所以这个值应该根据环境进</a:t>
            </a:r>
            <a:endParaRPr lang="en-US" altLang="zh-CN" dirty="0"/>
          </a:p>
          <a:p>
            <a:r>
              <a:rPr lang="zh-CN" altLang="en-US" dirty="0"/>
              <a:t>行调整，下方两个值，设置完成后点击保存生效。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4" y="1975678"/>
            <a:ext cx="6372200" cy="3095603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635896" y="1851670"/>
            <a:ext cx="432048" cy="1671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987824" y="1923678"/>
            <a:ext cx="864096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4572000" y="1859916"/>
            <a:ext cx="1008112" cy="2804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3320" y="813337"/>
            <a:ext cx="859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</a:t>
            </a:r>
            <a:r>
              <a:rPr lang="zh-CN" altLang="en-US" dirty="0"/>
              <a:t>设置：需要注意的是云台设置，使用时，</a:t>
            </a:r>
            <a:r>
              <a:rPr lang="zh-CN" altLang="en-US" dirty="0">
                <a:solidFill>
                  <a:srgbClr val="FF0000"/>
                </a:solidFill>
              </a:rPr>
              <a:t>务必打开云台释放归位，默认不打开。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1563"/>
            <a:ext cx="9144000" cy="4196053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4572000" y="1211563"/>
            <a:ext cx="1368152" cy="2296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820116"/>
            <a:ext cx="880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通道设置：此设置特别重要，影响对小车的操控和体验，参数较多，需要细细研究，</a:t>
            </a:r>
            <a:endParaRPr lang="en-US" altLang="zh-CN" dirty="0"/>
          </a:p>
          <a:p>
            <a:r>
              <a:rPr lang="zh-CN" altLang="en-US" dirty="0"/>
              <a:t>由于默认的设置是根据</a:t>
            </a:r>
            <a:r>
              <a:rPr lang="en-US" altLang="zh-CN" dirty="0"/>
              <a:t>XBOX</a:t>
            </a:r>
            <a:r>
              <a:rPr lang="zh-CN" altLang="en-US" dirty="0"/>
              <a:t>手柄按键做的，所以不是</a:t>
            </a:r>
            <a:r>
              <a:rPr lang="en-US" altLang="zh-CN" dirty="0"/>
              <a:t>XBOX</a:t>
            </a:r>
            <a:r>
              <a:rPr lang="zh-CN" altLang="en-US" dirty="0"/>
              <a:t>手柄用户都需要进行重新</a:t>
            </a:r>
            <a:endParaRPr lang="en-US" altLang="zh-CN" dirty="0"/>
          </a:p>
          <a:p>
            <a:r>
              <a:rPr lang="zh-CN" altLang="en-US" dirty="0"/>
              <a:t>设置。此处只介绍参数，相关设置方法参考手柄方向盘设置的内容。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07" y="1852361"/>
            <a:ext cx="5184576" cy="3140402"/>
          </a:xfrm>
          <a:prstGeom prst="rect">
            <a:avLst/>
          </a:prstGeom>
        </p:spPr>
      </p:pic>
      <p:sp>
        <p:nvSpPr>
          <p:cNvPr id="6" name="标注: 线形 5"/>
          <p:cNvSpPr/>
          <p:nvPr/>
        </p:nvSpPr>
        <p:spPr>
          <a:xfrm>
            <a:off x="395535" y="2571750"/>
            <a:ext cx="936105" cy="216024"/>
          </a:xfrm>
          <a:prstGeom prst="borderCallout1">
            <a:avLst>
              <a:gd name="adj1" fmla="val -2414"/>
              <a:gd name="adj2" fmla="val 101016"/>
              <a:gd name="adj3" fmla="val -28595"/>
              <a:gd name="adj4" fmla="val 2427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对应的通道名称</a:t>
            </a:r>
            <a:endParaRPr lang="en-US" sz="800" dirty="0"/>
          </a:p>
        </p:txBody>
      </p:sp>
      <p:sp>
        <p:nvSpPr>
          <p:cNvPr id="7" name="标注: 线形 6"/>
          <p:cNvSpPr/>
          <p:nvPr/>
        </p:nvSpPr>
        <p:spPr>
          <a:xfrm>
            <a:off x="395535" y="3213012"/>
            <a:ext cx="936105" cy="216024"/>
          </a:xfrm>
          <a:prstGeom prst="borderCallout1">
            <a:avLst>
              <a:gd name="adj1" fmla="val -2414"/>
              <a:gd name="adj2" fmla="val 101016"/>
              <a:gd name="adj3" fmla="val -28595"/>
              <a:gd name="adj4" fmla="val 2427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对应的通道接口</a:t>
            </a:r>
            <a:endParaRPr lang="en-US" sz="800" dirty="0"/>
          </a:p>
        </p:txBody>
      </p:sp>
      <p:sp>
        <p:nvSpPr>
          <p:cNvPr id="8" name="标注: 线形 7"/>
          <p:cNvSpPr/>
          <p:nvPr/>
        </p:nvSpPr>
        <p:spPr>
          <a:xfrm>
            <a:off x="4103947" y="2465273"/>
            <a:ext cx="936105" cy="216024"/>
          </a:xfrm>
          <a:prstGeom prst="borderCallout1">
            <a:avLst>
              <a:gd name="adj1" fmla="val 96353"/>
              <a:gd name="adj2" fmla="val -3177"/>
              <a:gd name="adj3" fmla="val 338253"/>
              <a:gd name="adj4" fmla="val -698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对应的通道类型</a:t>
            </a:r>
            <a:endParaRPr lang="en-US" sz="800" dirty="0"/>
          </a:p>
        </p:txBody>
      </p:sp>
      <p:sp>
        <p:nvSpPr>
          <p:cNvPr id="9" name="标注: 线形 8"/>
          <p:cNvSpPr/>
          <p:nvPr/>
        </p:nvSpPr>
        <p:spPr>
          <a:xfrm>
            <a:off x="5292080" y="2465670"/>
            <a:ext cx="936105" cy="216024"/>
          </a:xfrm>
          <a:prstGeom prst="borderCallout1">
            <a:avLst>
              <a:gd name="adj1" fmla="val 96353"/>
              <a:gd name="adj2" fmla="val -3177"/>
              <a:gd name="adj3" fmla="val 355890"/>
              <a:gd name="adj4" fmla="val -787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对应的通道值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1347614"/>
            <a:ext cx="4839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</a:t>
            </a:r>
            <a:r>
              <a:rPr lang="zh-CN" altLang="en-US" dirty="0"/>
              <a:t>控件：此处设置使用</a:t>
            </a:r>
            <a:r>
              <a:rPr lang="en-US" altLang="zh-CN" dirty="0"/>
              <a:t>UI</a:t>
            </a:r>
            <a:r>
              <a:rPr lang="zh-CN" altLang="en-US" dirty="0"/>
              <a:t>控制小车时的参数。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57" y="1923678"/>
            <a:ext cx="8497486" cy="1676634"/>
          </a:xfrm>
          <a:prstGeom prst="rect">
            <a:avLst/>
          </a:prstGeom>
        </p:spPr>
      </p:pic>
      <p:sp>
        <p:nvSpPr>
          <p:cNvPr id="9" name="标注: 线形 8"/>
          <p:cNvSpPr/>
          <p:nvPr/>
        </p:nvSpPr>
        <p:spPr>
          <a:xfrm>
            <a:off x="251520" y="4155926"/>
            <a:ext cx="1980221" cy="432048"/>
          </a:xfrm>
          <a:prstGeom prst="borderCallout1">
            <a:avLst>
              <a:gd name="adj1" fmla="val -2414"/>
              <a:gd name="adj2" fmla="val 101016"/>
              <a:gd name="adj3" fmla="val -256112"/>
              <a:gd name="adj4" fmla="val 1422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如果左右、前后相反，可以在此处更改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864" y="1178262"/>
            <a:ext cx="5187383" cy="393856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9672" y="771887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键盘：此处设置使用电脑键盘控制小车时的参数。</a:t>
            </a:r>
            <a:endParaRPr lang="en-US" dirty="0"/>
          </a:p>
        </p:txBody>
      </p:sp>
      <p:cxnSp>
        <p:nvCxnSpPr>
          <p:cNvPr id="9" name="直接箭头连接符 8"/>
          <p:cNvCxnSpPr>
            <a:stCxn id="15" idx="3"/>
          </p:cNvCxnSpPr>
          <p:nvPr/>
        </p:nvCxnSpPr>
        <p:spPr>
          <a:xfrm>
            <a:off x="2379948" y="3146823"/>
            <a:ext cx="84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79455" y="29621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更改对应的按键</a:t>
            </a:r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3369568" y="1657350"/>
            <a:ext cx="842392" cy="29306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5292080" y="1628780"/>
            <a:ext cx="842392" cy="29306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6372200" y="11782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更改按键灵敏度</a:t>
            </a:r>
            <a:endParaRPr lang="en-US" dirty="0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5868144" y="1339831"/>
            <a:ext cx="593311" cy="28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259996" y="1626547"/>
            <a:ext cx="842392" cy="29306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/>
          <p:cNvSpPr txBox="1"/>
          <p:nvPr/>
        </p:nvSpPr>
        <p:spPr>
          <a:xfrm>
            <a:off x="7325935" y="290719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复位务必打开</a:t>
            </a:r>
            <a:endParaRPr lang="en-US" dirty="0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7120167" y="2467746"/>
            <a:ext cx="836209" cy="439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4359"/>
            <a:ext cx="9144000" cy="193478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9672" y="771887"/>
            <a:ext cx="511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手柄：非</a:t>
            </a:r>
            <a:r>
              <a:rPr lang="en-US" altLang="zh-CN" dirty="0" err="1"/>
              <a:t>xbox</a:t>
            </a:r>
            <a:r>
              <a:rPr lang="zh-CN" altLang="en-US" dirty="0"/>
              <a:t>手柄都需要测试更改对应的按键，</a:t>
            </a:r>
            <a:endParaRPr lang="en-US" altLang="zh-CN" dirty="0"/>
          </a:p>
          <a:p>
            <a:r>
              <a:rPr lang="zh-CN" altLang="en-US" dirty="0"/>
              <a:t>方法参照手柄方向盘设置内容。</a:t>
            </a:r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39552" y="1275606"/>
            <a:ext cx="1800200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483768" y="1347614"/>
            <a:ext cx="1008112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11560" y="1347614"/>
            <a:ext cx="1728192" cy="1584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106185" y="1172311"/>
            <a:ext cx="2338023" cy="967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2483768" y="2311376"/>
            <a:ext cx="1872208" cy="162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2233977" y="2931791"/>
            <a:ext cx="2121999" cy="1008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4355976" y="2396447"/>
            <a:ext cx="1080120" cy="1543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4355976" y="2325843"/>
            <a:ext cx="4032448" cy="1614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779912" y="39413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手柄灵敏度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67694"/>
            <a:ext cx="9144000" cy="233827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75666" y="1059582"/>
            <a:ext cx="459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摄像头设置：一般不需要更改，默认即可。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5790"/>
            <a:ext cx="9144000" cy="3637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09678" y="811378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声音设置：一般不需要更改，将音量都调制最大即可。</a:t>
            </a:r>
            <a:endParaRPr lang="en-US" altLang="zh-CN" dirty="0"/>
          </a:p>
          <a:p>
            <a:r>
              <a:rPr lang="zh-CN" altLang="en-US" dirty="0"/>
              <a:t>可根据需求，设置一些快捷播放短语。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923678"/>
            <a:ext cx="6156176" cy="291808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78845" y="1132773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分享设置：将链接分享给你的朋友，在设定时长内有效。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1835696" y="2283718"/>
          <a:ext cx="5772472" cy="936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27734"/>
            <a:ext cx="9144000" cy="193478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5536" y="1059582"/>
            <a:ext cx="749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手柄是最方便感受比较好的操控方式，默认按键是根据</a:t>
            </a:r>
            <a:r>
              <a:rPr lang="en-US" altLang="zh-CN" dirty="0"/>
              <a:t>XBOX</a:t>
            </a:r>
            <a:r>
              <a:rPr lang="zh-CN" altLang="en-US" dirty="0"/>
              <a:t>手柄设置，</a:t>
            </a:r>
            <a:endParaRPr lang="en-US" altLang="zh-CN" dirty="0"/>
          </a:p>
          <a:p>
            <a:r>
              <a:rPr lang="zh-CN" altLang="en-US" dirty="0"/>
              <a:t>一般的手柄需要重新设置对应值。</a:t>
            </a:r>
            <a:endParaRPr lang="en-US" dirty="0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11560" y="1563638"/>
            <a:ext cx="2088232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2699792" y="1563638"/>
            <a:ext cx="777632" cy="144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597104" y="1563638"/>
            <a:ext cx="2102688" cy="2160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699792" y="1563638"/>
            <a:ext cx="3729960" cy="136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19672" y="915566"/>
            <a:ext cx="4579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登录网站</a:t>
            </a:r>
            <a:endParaRPr lang="en-US" altLang="zh-CN" dirty="0"/>
          </a:p>
          <a:p>
            <a:r>
              <a:rPr lang="en-US" dirty="0"/>
              <a:t>https://gamepad-tester.com/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810" y="1766262"/>
            <a:ext cx="6498684" cy="3102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4656" y="915566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/>
              <a:t>USB</a:t>
            </a:r>
            <a:r>
              <a:rPr lang="zh-CN" altLang="en-US" dirty="0"/>
              <a:t>线连接手柄和电脑，按下任意手柄按键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1779662"/>
            <a:ext cx="5170488" cy="3309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0" y="1995686"/>
            <a:ext cx="5436096" cy="2837546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90339" y="3507854"/>
            <a:ext cx="72008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2294196" y="3651870"/>
            <a:ext cx="432047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1864656" y="915566"/>
            <a:ext cx="5112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比如这个按键对应的是</a:t>
            </a:r>
            <a:r>
              <a:rPr lang="en-US" altLang="zh-CN" dirty="0"/>
              <a:t>B6</a:t>
            </a:r>
            <a:r>
              <a:rPr lang="zh-CN" altLang="en-US" dirty="0"/>
              <a:t>，如果你想将前进按键设为这个，那么就需要将对应的值改为</a:t>
            </a:r>
            <a:r>
              <a:rPr lang="en-US" altLang="zh-CN" dirty="0"/>
              <a:t>B6,</a:t>
            </a:r>
            <a:r>
              <a:rPr lang="zh-CN" altLang="en-US" dirty="0"/>
              <a:t>步进为正代表前进，步进为负代表后退。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r="46806"/>
          <a:stretch>
            <a:fillRect/>
          </a:stretch>
        </p:blipFill>
        <p:spPr>
          <a:xfrm>
            <a:off x="5868144" y="1995686"/>
            <a:ext cx="3042338" cy="1872208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4572000" y="1419622"/>
            <a:ext cx="1728192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淘宝网Chenying0907出品 2"/>
          <p:cNvSpPr/>
          <p:nvPr/>
        </p:nvSpPr>
        <p:spPr>
          <a:xfrm>
            <a:off x="0" y="-43542"/>
            <a:ext cx="9144000" cy="754743"/>
          </a:xfrm>
          <a:prstGeom prst="rect">
            <a:avLst/>
          </a:prstGeom>
          <a:solidFill>
            <a:srgbClr val="FE5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70" name="淘宝网Chenying0907出品 4"/>
          <p:cNvSpPr/>
          <p:nvPr/>
        </p:nvSpPr>
        <p:spPr>
          <a:xfrm>
            <a:off x="110850" y="722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详细介绍</a:t>
            </a:r>
            <a:endParaRPr lang="zh-CN" altLang="en-US" sz="28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203598"/>
            <a:ext cx="3219822" cy="321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67544" y="2490343"/>
            <a:ext cx="4579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对于此类方向盘，也是在上述网址查看对应的按键值，然后进行更改。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淘宝网Chenying0907出品 11"/>
          <p:cNvSpPr/>
          <p:nvPr/>
        </p:nvSpPr>
        <p:spPr>
          <a:xfrm>
            <a:off x="2218944" y="2170176"/>
            <a:ext cx="5769356" cy="1682496"/>
          </a:xfrm>
          <a:custGeom>
            <a:avLst/>
            <a:gdLst>
              <a:gd name="connsiteX0" fmla="*/ 6230112 w 6230112"/>
              <a:gd name="connsiteY0" fmla="*/ 0 h 1682496"/>
              <a:gd name="connsiteX1" fmla="*/ 0 w 6230112"/>
              <a:gd name="connsiteY1" fmla="*/ 1024128 h 1682496"/>
              <a:gd name="connsiteX2" fmla="*/ 0 w 6230112"/>
              <a:gd name="connsiteY2" fmla="*/ 1682496 h 1682496"/>
              <a:gd name="connsiteX3" fmla="*/ 6217920 w 6230112"/>
              <a:gd name="connsiteY3" fmla="*/ 646176 h 1682496"/>
              <a:gd name="connsiteX4" fmla="*/ 6230112 w 6230112"/>
              <a:gd name="connsiteY4" fmla="*/ 0 h 1682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112" h="1682496">
                <a:moveTo>
                  <a:pt x="6230112" y="0"/>
                </a:moveTo>
                <a:lnTo>
                  <a:pt x="0" y="1024128"/>
                </a:lnTo>
                <a:lnTo>
                  <a:pt x="0" y="1682496"/>
                </a:lnTo>
                <a:lnTo>
                  <a:pt x="6217920" y="646176"/>
                </a:lnTo>
                <a:lnTo>
                  <a:pt x="6230112" y="0"/>
                </a:lnTo>
                <a:close/>
              </a:path>
            </a:pathLst>
          </a:custGeom>
          <a:solidFill>
            <a:srgbClr val="1838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14" name="淘宝网Chenying0907出品 459"/>
          <p:cNvSpPr/>
          <p:nvPr/>
        </p:nvSpPr>
        <p:spPr>
          <a:xfrm>
            <a:off x="977900" y="2173158"/>
            <a:ext cx="7010400" cy="666088"/>
          </a:xfrm>
          <a:custGeom>
            <a:avLst/>
            <a:gdLst>
              <a:gd name="connsiteX0" fmla="*/ 0 w 7160526"/>
              <a:gd name="connsiteY0" fmla="*/ 0 h 666088"/>
              <a:gd name="connsiteX1" fmla="*/ 7160526 w 7160526"/>
              <a:gd name="connsiteY1" fmla="*/ 0 h 666088"/>
              <a:gd name="connsiteX2" fmla="*/ 7160526 w 7160526"/>
              <a:gd name="connsiteY2" fmla="*/ 666088 h 666088"/>
              <a:gd name="connsiteX3" fmla="*/ 0 w 7160526"/>
              <a:gd name="connsiteY3" fmla="*/ 666088 h 666088"/>
              <a:gd name="connsiteX4" fmla="*/ 0 w 7160526"/>
              <a:gd name="connsiteY4" fmla="*/ 0 h 666088"/>
              <a:gd name="connsiteX0-1" fmla="*/ 316992 w 7160526"/>
              <a:gd name="connsiteY0-2" fmla="*/ 0 h 666088"/>
              <a:gd name="connsiteX1-3" fmla="*/ 7160526 w 7160526"/>
              <a:gd name="connsiteY1-4" fmla="*/ 0 h 666088"/>
              <a:gd name="connsiteX2-5" fmla="*/ 7160526 w 7160526"/>
              <a:gd name="connsiteY2-6" fmla="*/ 666088 h 666088"/>
              <a:gd name="connsiteX3-7" fmla="*/ 0 w 7160526"/>
              <a:gd name="connsiteY3-8" fmla="*/ 666088 h 666088"/>
              <a:gd name="connsiteX4-9" fmla="*/ 316992 w 7160526"/>
              <a:gd name="connsiteY4-10" fmla="*/ 0 h 6660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160526" h="666088">
                <a:moveTo>
                  <a:pt x="316992" y="0"/>
                </a:moveTo>
                <a:lnTo>
                  <a:pt x="7160526" y="0"/>
                </a:lnTo>
                <a:lnTo>
                  <a:pt x="7160526" y="666088"/>
                </a:lnTo>
                <a:lnTo>
                  <a:pt x="0" y="666088"/>
                </a:lnTo>
                <a:lnTo>
                  <a:pt x="316992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70"/>
          </a:p>
        </p:txBody>
      </p:sp>
      <p:sp>
        <p:nvSpPr>
          <p:cNvPr id="16" name="淘宝网Chenying0907出品 459"/>
          <p:cNvSpPr/>
          <p:nvPr/>
        </p:nvSpPr>
        <p:spPr>
          <a:xfrm flipH="1">
            <a:off x="2201487" y="3197287"/>
            <a:ext cx="4737608" cy="666088"/>
          </a:xfrm>
          <a:custGeom>
            <a:avLst/>
            <a:gdLst>
              <a:gd name="connsiteX0" fmla="*/ 0 w 7160526"/>
              <a:gd name="connsiteY0" fmla="*/ 0 h 666088"/>
              <a:gd name="connsiteX1" fmla="*/ 7160526 w 7160526"/>
              <a:gd name="connsiteY1" fmla="*/ 0 h 666088"/>
              <a:gd name="connsiteX2" fmla="*/ 7160526 w 7160526"/>
              <a:gd name="connsiteY2" fmla="*/ 666088 h 666088"/>
              <a:gd name="connsiteX3" fmla="*/ 0 w 7160526"/>
              <a:gd name="connsiteY3" fmla="*/ 666088 h 666088"/>
              <a:gd name="connsiteX4" fmla="*/ 0 w 7160526"/>
              <a:gd name="connsiteY4" fmla="*/ 0 h 666088"/>
              <a:gd name="connsiteX0-1" fmla="*/ 316992 w 7160526"/>
              <a:gd name="connsiteY0-2" fmla="*/ 0 h 666088"/>
              <a:gd name="connsiteX1-3" fmla="*/ 7160526 w 7160526"/>
              <a:gd name="connsiteY1-4" fmla="*/ 0 h 666088"/>
              <a:gd name="connsiteX2-5" fmla="*/ 7160526 w 7160526"/>
              <a:gd name="connsiteY2-6" fmla="*/ 666088 h 666088"/>
              <a:gd name="connsiteX3-7" fmla="*/ 0 w 7160526"/>
              <a:gd name="connsiteY3-8" fmla="*/ 666088 h 666088"/>
              <a:gd name="connsiteX4-9" fmla="*/ 316992 w 7160526"/>
              <a:gd name="connsiteY4-10" fmla="*/ 0 h 666088"/>
              <a:gd name="connsiteX0-11" fmla="*/ 0 w 6843534"/>
              <a:gd name="connsiteY0-12" fmla="*/ 0 h 666088"/>
              <a:gd name="connsiteX1-13" fmla="*/ 6843534 w 6843534"/>
              <a:gd name="connsiteY1-14" fmla="*/ 0 h 666088"/>
              <a:gd name="connsiteX2-15" fmla="*/ 6843534 w 6843534"/>
              <a:gd name="connsiteY2-16" fmla="*/ 666088 h 666088"/>
              <a:gd name="connsiteX3-17" fmla="*/ 540580 w 6843534"/>
              <a:gd name="connsiteY3-18" fmla="*/ 656563 h 666088"/>
              <a:gd name="connsiteX4-19" fmla="*/ 0 w 6843534"/>
              <a:gd name="connsiteY4-20" fmla="*/ 0 h 666088"/>
              <a:gd name="connsiteX0-21" fmla="*/ 0 w 6729694"/>
              <a:gd name="connsiteY0-22" fmla="*/ 0 h 666088"/>
              <a:gd name="connsiteX1-23" fmla="*/ 6729694 w 6729694"/>
              <a:gd name="connsiteY1-24" fmla="*/ 0 h 666088"/>
              <a:gd name="connsiteX2-25" fmla="*/ 6729694 w 6729694"/>
              <a:gd name="connsiteY2-26" fmla="*/ 666088 h 666088"/>
              <a:gd name="connsiteX3-27" fmla="*/ 426740 w 6729694"/>
              <a:gd name="connsiteY3-28" fmla="*/ 656563 h 666088"/>
              <a:gd name="connsiteX4-29" fmla="*/ 0 w 6729694"/>
              <a:gd name="connsiteY4-30" fmla="*/ 0 h 6660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729694" h="666088">
                <a:moveTo>
                  <a:pt x="0" y="0"/>
                </a:moveTo>
                <a:lnTo>
                  <a:pt x="6729694" y="0"/>
                </a:lnTo>
                <a:lnTo>
                  <a:pt x="6729694" y="666088"/>
                </a:lnTo>
                <a:lnTo>
                  <a:pt x="426740" y="656563"/>
                </a:lnTo>
                <a:lnTo>
                  <a:pt x="0" y="0"/>
                </a:lnTo>
                <a:close/>
              </a:path>
            </a:pathLst>
          </a:custGeom>
          <a:solidFill>
            <a:srgbClr val="EA561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907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212" y="2134782"/>
            <a:ext cx="2551211" cy="76944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1500">
                <a:solidFill>
                  <a:schemeClr val="bg1"/>
                </a:solidFill>
                <a:effectLst>
                  <a:outerShdw blurRad="25400" dist="25400" algn="l" rotWithShape="0">
                    <a:prstClr val="black">
                      <a:alpha val="61000"/>
                    </a:prstClr>
                  </a:outerShdw>
                </a:effectLst>
                <a:latin typeface="Edwardian Script ITC" pitchFamily="66" charset="0"/>
                <a:ea typeface="叶根友刀锋黑草" pitchFamily="2" charset="-122"/>
              </a:defRPr>
            </a:lvl1pPr>
            <a:lvl2pPr marL="742950" indent="-28575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400" b="1" spc="-150" dirty="0">
                <a:ln w="12700">
                  <a:noFill/>
                </a:ln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THANKS!</a:t>
            </a:r>
            <a:endParaRPr lang="zh-CN" altLang="en-US" sz="4400" b="1" spc="-150" dirty="0">
              <a:ln w="12700">
                <a:noFill/>
              </a:ln>
              <a:effectLst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Box 83"/>
          <p:cNvSpPr txBox="1"/>
          <p:nvPr/>
        </p:nvSpPr>
        <p:spPr>
          <a:xfrm>
            <a:off x="5077799" y="3399527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smartcar</a:t>
            </a:r>
            <a:endParaRPr lang="zh-CN" altLang="en-US" sz="12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Box 45"/>
          <p:cNvSpPr txBox="1"/>
          <p:nvPr/>
        </p:nvSpPr>
        <p:spPr>
          <a:xfrm>
            <a:off x="3308641" y="3399527"/>
            <a:ext cx="6591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2022</a:t>
            </a:r>
            <a:r>
              <a:rPr lang="zh-CN" altLang="en-US" sz="11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年</a:t>
            </a:r>
            <a:endParaRPr lang="zh-CN" altLang="en-US" sz="11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PP_MARK_KEY" val="b80764aa-45ce-4bf9-9596-e86e0cc57b0a"/>
  <p:tag name="COMMONDATA" val="eyJoZGlkIjoiMmRmNTE3YTY5YmY3MzJmYmJiOWJhZjUxZDE3ZjU3N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思源bold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演示</Application>
  <PresentationFormat>全屏显示(16:9)</PresentationFormat>
  <Paragraphs>211</Paragraphs>
  <Slides>27</Slides>
  <Notes>115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宋体</vt:lpstr>
      <vt:lpstr>Wingdings</vt:lpstr>
      <vt:lpstr>Microsoft YaHei</vt:lpstr>
      <vt:lpstr>思源黑体 CN Bold</vt:lpstr>
      <vt:lpstr>SimHei</vt:lpstr>
      <vt:lpstr>Arial Unicode MS</vt:lpstr>
      <vt:lpstr>Calibri</vt:lpstr>
      <vt:lpstr>Edwardian Script ITC</vt:lpstr>
      <vt:lpstr>SWAstro</vt:lpstr>
      <vt:lpstr>叶根友刀锋黑草</vt:lpstr>
      <vt:lpstr>Times New Roman</vt:lpstr>
      <vt:lpstr>思源黑体 CN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chenying0907</dc:title>
  <dc:creator>chenying0907</dc:creator>
  <cp:keywords>chenying0907</cp:keywords>
  <dc:description>chenying0907</dc:description>
  <cp:lastModifiedBy>吴东昱</cp:lastModifiedBy>
  <cp:revision>4563</cp:revision>
  <dcterms:created xsi:type="dcterms:W3CDTF">2012-02-27T03:06:00Z</dcterms:created>
  <dcterms:modified xsi:type="dcterms:W3CDTF">2022-10-17T02:25:46Z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2FDB8C8CF13744F8B94167AE7E38BA49</vt:lpwstr>
  </property>
  <property fmtid="{D5CDD505-2E9C-101B-9397-08002B2CF9AE}" pid="3" name="KSOProductBuildVer">
    <vt:lpwstr>2052-11.1.0.12598</vt:lpwstr>
  </property>
</Properties>
</file>